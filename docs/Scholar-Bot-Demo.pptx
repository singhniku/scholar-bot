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212080" y="1280160"/>
            <a:ext cx="1828800" cy="18288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200" b="0">
                <a:solidFill>
                  <a:srgbClr val="FFFFFF"/>
                </a:solidFill>
                <a:latin typeface="Calibri"/>
              </a:rPr>
              <a:t>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Scholar-Bot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0F6FF"/>
                </a:solidFill>
                <a:latin typeface="Calibri"/>
              </a:rPr>
              <a:t>AI-Powered Resume Optimizer · LinkedIn Job Matcher · Auto-Apply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0F6FF"/>
                </a:solidFill>
                <a:latin typeface="Calibri"/>
              </a:rPr>
              <a:t>github.com/Singhniku/scholar-bot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6FF"/>
                </a:solidFill>
                <a:latin typeface="Calibri"/>
              </a:rPr>
              <a:t>Job seekers waste 10+ hours per week customising resumes for ATS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5394960" cy="2103120"/>
          </a:xfrm>
          <a:prstGeom prst="roundRect">
            <a:avLst/>
          </a:prstGeom>
          <a:solidFill>
            <a:srgbClr val="F0F6FF"/>
          </a:solidFill>
          <a:ln w="25400"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6459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6B35"/>
                </a:solidFill>
                <a:latin typeface="Calibri"/>
              </a:rPr>
              <a:t>75%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5603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41414"/>
                </a:solidFill>
                <a:latin typeface="Calibri"/>
              </a:rPr>
              <a:t>of resumes are auto-rejected by ATS before any human reads them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463040"/>
            <a:ext cx="5394960" cy="2103120"/>
          </a:xfrm>
          <a:prstGeom prst="roundRect">
            <a:avLst/>
          </a:prstGeom>
          <a:solidFill>
            <a:srgbClr val="F0F6FF"/>
          </a:solidFill>
          <a:ln w="25400"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6459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6B35"/>
                </a:solidFill>
                <a:latin typeface="Calibri"/>
              </a:rPr>
              <a:t>3-5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5603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41414"/>
                </a:solidFill>
                <a:latin typeface="Calibri"/>
              </a:rPr>
              <a:t>average time to manually customise one resume per job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40480"/>
            <a:ext cx="5394960" cy="2103120"/>
          </a:xfrm>
          <a:prstGeom prst="roundRect">
            <a:avLst/>
          </a:prstGeom>
          <a:solidFill>
            <a:srgbClr val="F0F6FF"/>
          </a:solidFill>
          <a:ln w="25400"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40233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6B35"/>
                </a:solidFill>
                <a:latin typeface="Calibri"/>
              </a:rPr>
              <a:t>100s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9377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41414"/>
                </a:solidFill>
                <a:latin typeface="Calibri"/>
              </a:rPr>
              <a:t>of jobs posted daily — manual review is unsustainable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3840480"/>
            <a:ext cx="5394960" cy="2103120"/>
          </a:xfrm>
          <a:prstGeom prst="roundRect">
            <a:avLst/>
          </a:prstGeom>
          <a:solidFill>
            <a:srgbClr val="F0F6FF"/>
          </a:solidFill>
          <a:ln w="25400"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40233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6B35"/>
                </a:solidFill>
                <a:latin typeface="Calibri"/>
              </a:rPr>
              <a:t>Generic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9377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41414"/>
                </a:solidFill>
                <a:latin typeface="Calibri"/>
              </a:rPr>
              <a:t>applications get lower interview rates than tailored 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6FF"/>
                </a:solidFill>
                <a:latin typeface="Calibri"/>
              </a:rPr>
              <a:t>End-to-end AI automation: parse → match → rewrite → apply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6576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141414"/>
                </a:solidFill>
                <a:latin typeface="Calibri"/>
              </a:rPr>
              <a:t>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E3A5F"/>
                </a:solidFill>
                <a:latin typeface="Calibri"/>
              </a:rPr>
              <a:t>Parse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41414"/>
                </a:solidFill>
                <a:latin typeface="Calibri"/>
              </a:rPr>
              <a:t>Read PDF / JPG / PNG / SVG resumes via pdfplumber + OCR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6576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14630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141414"/>
                </a:solidFill>
                <a:latin typeface="Calibri"/>
              </a:rPr>
              <a:t>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1488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E3A5F"/>
                </a:solidFill>
                <a:latin typeface="Calibri"/>
              </a:rPr>
              <a:t>Extract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517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41414"/>
                </a:solidFill>
                <a:latin typeface="Calibri"/>
              </a:rPr>
              <a:t>AI extracts skills, experience, education as structured JSON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371600"/>
            <a:ext cx="36576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4630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141414"/>
                </a:solidFill>
                <a:latin typeface="Calibri"/>
              </a:rPr>
              <a:t>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1488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E3A5F"/>
                </a:solidFill>
                <a:latin typeface="Calibri"/>
              </a:rPr>
              <a:t>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19" y="26517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41414"/>
                </a:solidFill>
                <a:latin typeface="Calibri"/>
              </a:rPr>
              <a:t>Scrape LinkedIn for jobs matching your title + filters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977639"/>
            <a:ext cx="36576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069079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141414"/>
                </a:solidFill>
                <a:latin typeface="Calibri"/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75487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E3A5F"/>
                </a:solidFill>
                <a:latin typeface="Calibri"/>
              </a:rPr>
              <a:t>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25780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41414"/>
                </a:solidFill>
                <a:latin typeface="Calibri"/>
              </a:rPr>
              <a:t>Weighted match algorithm against required + preferred skills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977639"/>
            <a:ext cx="36576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59" y="4069079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141414"/>
                </a:solidFill>
                <a:latin typeface="Calibri"/>
              </a:rPr>
              <a:t>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59" y="475487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E3A5F"/>
                </a:solidFill>
                <a:latin typeface="Calibri"/>
              </a:rPr>
              <a:t>Rewrite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25780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41414"/>
                </a:solidFill>
                <a:latin typeface="Calibri"/>
              </a:rPr>
              <a:t>AI tailors bullet points to mirror each job's exact keywords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3977639"/>
            <a:ext cx="36576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4069079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141414"/>
                </a:solidFill>
                <a:latin typeface="Calibri"/>
              </a:rPr>
              <a:t>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75487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E3A5F"/>
                </a:solidFill>
                <a:latin typeface="Calibri"/>
              </a:rPr>
              <a:t>Auto-Apply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19" y="525780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41414"/>
                </a:solidFill>
                <a:latin typeface="Calibri"/>
              </a:rPr>
              <a:t>Selenium fills Easy Apply forms — you approve, it submits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6FF"/>
                </a:solidFill>
                <a:latin typeface="Calibri"/>
              </a:rPr>
              <a:t>Layered design — UI · Pipeline · Services · External integrations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47120" cy="731520"/>
          </a:xfrm>
          <a:prstGeom prst="roundRect">
            <a:avLst/>
          </a:prstGeom>
          <a:solidFill>
            <a:srgbClr val="1E3A5F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Streamlit UI  ·  5 tabs: Upload · Job Matches · Optimised Resumes · Auto Apply · Report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11247120" cy="731520"/>
          </a:xfrm>
          <a:prstGeom prst="roundRect">
            <a:avLst/>
          </a:prstGeom>
          <a:solidFill>
            <a:srgbClr val="2D6A9F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Pipeline (src/pipeline.py)  ·  parse → extract → fetch → match → filter → upgrade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017520"/>
            <a:ext cx="2697480" cy="1371600"/>
          </a:xfrm>
          <a:prstGeom prst="roundRect">
            <a:avLst/>
          </a:prstGeom>
          <a:solidFill>
            <a:srgbClr val="F0F6FF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41414"/>
                </a:solidFill>
                <a:latin typeface="Calibri"/>
              </a:rPr>
              <a:t>Resume Parser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520440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Calibri"/>
              </a:rPr>
              <a:t>pdfplumber
pytesseract
cairosvg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3017520"/>
            <a:ext cx="2697480" cy="1371600"/>
          </a:xfrm>
          <a:prstGeom prst="roundRect">
            <a:avLst/>
          </a:prstGeom>
          <a:solidFill>
            <a:srgbClr val="F0F6FF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41414"/>
                </a:solidFill>
                <a:latin typeface="Calibri"/>
              </a:rPr>
              <a:t>Skills Extractor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3520440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Calibri"/>
              </a:rPr>
              <a:t>AI Client
(Gemini / Claude)
+ Keyword fallback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017520"/>
            <a:ext cx="2697480" cy="1371600"/>
          </a:xfrm>
          <a:prstGeom prst="roundRect">
            <a:avLst/>
          </a:prstGeom>
          <a:solidFill>
            <a:srgbClr val="F0F6FF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41414"/>
                </a:solidFill>
                <a:latin typeface="Calibri"/>
              </a:rPr>
              <a:t>LinkedIn Scraper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3520440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Calibri"/>
              </a:rPr>
              <a:t>requests
BeautifulSoup
lxml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3017520"/>
            <a:ext cx="2697480" cy="1371600"/>
          </a:xfrm>
          <a:prstGeom prst="roundRect">
            <a:avLst/>
          </a:prstGeom>
          <a:solidFill>
            <a:srgbClr val="F0F6FF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41414"/>
                </a:solidFill>
                <a:latin typeface="Calibri"/>
              </a:rPr>
              <a:t>ATS Optimiser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3520440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Calibri"/>
              </a:rPr>
              <a:t>AI Client
+ ResumeGenerator
(reportlab PDF)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572000"/>
            <a:ext cx="3611880" cy="822960"/>
          </a:xfrm>
          <a:prstGeom prst="roundRect">
            <a:avLst/>
          </a:prstGeom>
          <a:solidFill>
            <a:srgbClr val="155724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Google Gemini
(free tier, default)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4572000"/>
            <a:ext cx="3611880" cy="822960"/>
          </a:xfrm>
          <a:prstGeom prst="roundRect">
            <a:avLst/>
          </a:prstGeom>
          <a:solidFill>
            <a:srgbClr val="2D6A9F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Anthropic Claude
(paid, optional)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4572000"/>
            <a:ext cx="3566160" cy="822960"/>
          </a:xfrm>
          <a:prstGeom prst="roundRect">
            <a:avLst/>
          </a:prstGeom>
          <a:solidFill>
            <a:srgbClr val="1E3A5F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LinkedIn Public Jobs
+ Easy Apply (Selenium)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577840"/>
            <a:ext cx="11247120" cy="731520"/>
          </a:xfrm>
          <a:prstGeom prst="roundRect">
            <a:avLst/>
          </a:prstGeom>
          <a:solidFill>
            <a:srgbClr val="555555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Output: PDF · Markdown · JSON · CSV  ·  Cached in /output, /uploads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Pipeline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6FF"/>
                </a:solidFill>
                <a:latin typeface="Calibri"/>
              </a:rPr>
              <a:t>Six pure functions in src/pipeline.py — same code path for UI, CLI, tests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03120"/>
            <a:ext cx="1371600" cy="1097280"/>
          </a:xfrm>
          <a:prstGeom prst="roundRect">
            <a:avLst/>
          </a:prstGeom>
          <a:solidFill>
            <a:srgbClr val="FF6B35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Resume
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03120" y="2103120"/>
            <a:ext cx="1828800" cy="1097280"/>
          </a:xfrm>
          <a:prstGeom prst="roundRect">
            <a:avLst/>
          </a:prstGeom>
          <a:solidFill>
            <a:srgbClr val="2D6A9F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parse_resume()
→ raw 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2103120"/>
            <a:ext cx="2011680" cy="1097280"/>
          </a:xfrm>
          <a:prstGeom prst="roundRect">
            <a:avLst/>
          </a:prstGeom>
          <a:solidFill>
            <a:srgbClr val="2D6A9F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extract_resume_skills()
→ resume_data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2103120"/>
            <a:ext cx="1828800" cy="1097280"/>
          </a:xfrm>
          <a:prstGeom prst="roundRect">
            <a:avLst/>
          </a:prstGeom>
          <a:solidFill>
            <a:srgbClr val="2D6A9F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fetch_jobs()
→ list[job]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0" y="2103120"/>
            <a:ext cx="2194560" cy="1097280"/>
          </a:xfrm>
          <a:prstGeom prst="roundRect">
            <a:avLst/>
          </a:prstGeom>
          <a:solidFill>
            <a:srgbClr val="2D6A9F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match_resume_to_jobs()
→ list[ScoredJob]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28800" y="2651760"/>
            <a:ext cx="274320" cy="0"/>
          </a:xfrm>
          <a:prstGeom prst="line">
            <a:avLst/>
          </a:prstGeom>
          <a:ln w="31750">
            <a:solidFill>
              <a:srgbClr val="2D6A9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931920" y="2651760"/>
            <a:ext cx="274320" cy="0"/>
          </a:xfrm>
          <a:prstGeom prst="line">
            <a:avLst/>
          </a:prstGeom>
          <a:ln w="31750">
            <a:solidFill>
              <a:srgbClr val="2D6A9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217920" y="2651760"/>
            <a:ext cx="274320" cy="0"/>
          </a:xfrm>
          <a:prstGeom prst="line">
            <a:avLst/>
          </a:prstGeom>
          <a:ln w="31750">
            <a:solidFill>
              <a:srgbClr val="2D6A9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321040" y="2651760"/>
            <a:ext cx="274320" cy="0"/>
          </a:xfrm>
          <a:prstGeom prst="line">
            <a:avLst/>
          </a:prstGeom>
          <a:ln w="31750">
            <a:solidFill>
              <a:srgbClr val="2D6A9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7200" y="3840480"/>
            <a:ext cx="2286000" cy="1097280"/>
          </a:xfrm>
          <a:prstGeom prst="roundRect">
            <a:avLst/>
          </a:prstGeom>
          <a:solidFill>
            <a:srgbClr val="2D6A9F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filter_by_match()
→ above / below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3840480"/>
            <a:ext cx="2286000" cy="1097280"/>
          </a:xfrm>
          <a:prstGeom prst="roundRect">
            <a:avLst/>
          </a:prstGeom>
          <a:solidFill>
            <a:srgbClr val="FF6B35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upgrade_cv()
→ optimised resume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7840" y="3840480"/>
            <a:ext cx="2286000" cy="1097280"/>
          </a:xfrm>
          <a:prstGeom prst="roundRect">
            <a:avLst/>
          </a:prstGeom>
          <a:solidFill>
            <a:srgbClr val="2D6A9F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ResumeGenerator
→ PDF / Markdown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3840480"/>
            <a:ext cx="2286000" cy="1097280"/>
          </a:xfrm>
          <a:prstGeom prst="roundRect">
            <a:avLst/>
          </a:prstGeom>
          <a:solidFill>
            <a:srgbClr val="155724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AutoApply
→ Easy Apply form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743200" y="4389120"/>
            <a:ext cx="274320" cy="0"/>
          </a:xfrm>
          <a:prstGeom prst="line">
            <a:avLst/>
          </a:prstGeom>
          <a:ln w="31750">
            <a:solidFill>
              <a:srgbClr val="2D6A9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303520" y="4389120"/>
            <a:ext cx="274320" cy="0"/>
          </a:xfrm>
          <a:prstGeom prst="line">
            <a:avLst/>
          </a:prstGeom>
          <a:ln w="31750">
            <a:solidFill>
              <a:srgbClr val="2D6A9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863840" y="4389120"/>
            <a:ext cx="274320" cy="0"/>
          </a:xfrm>
          <a:prstGeom prst="line">
            <a:avLst/>
          </a:prstGeom>
          <a:ln w="31750">
            <a:solidFill>
              <a:srgbClr val="2D6A9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1554480" y="3200400"/>
            <a:ext cx="9235440" cy="640080"/>
          </a:xfrm>
          <a:prstGeom prst="line">
            <a:avLst/>
          </a:prstGeom>
          <a:ln w="31750">
            <a:solidFill>
              <a:srgbClr val="2D6A9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7200" y="54864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Each step is independent · Falls back gracefully when AI quota runs 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55724"/>
                </a:solidFill>
                <a:latin typeface="Calibri"/>
              </a:rPr>
              <a:t>61 unit + integration tests · 100% pipeline coverage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6FF"/>
                </a:solidFill>
                <a:latin typeface="Calibri"/>
              </a:rPr>
              <a:t>Battle-tested features for real-world job hunting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80160"/>
            <a:ext cx="822960" cy="822960"/>
          </a:xfrm>
          <a:prstGeom prst="ellipse">
            <a:avLst/>
          </a:prstGeom>
          <a:solidFill>
            <a:srgbClr val="F0F6FF"/>
          </a:solidFill>
          <a:ln w="19050"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0">
                <a:solidFill>
                  <a:srgbClr val="141414"/>
                </a:solidFill>
                <a:latin typeface="Calibri"/>
              </a:rPr>
              <a:t>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2801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3A5F"/>
                </a:solidFill>
                <a:latin typeface="Calibri"/>
              </a:rPr>
              <a:t>Multi-format parsing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7373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  <a:latin typeface="Calibri"/>
              </a:rPr>
              <a:t>PDF (native + OCR fallback), JPG, PNG, SVG</a:t>
            </a:r>
          </a:p>
        </p:txBody>
      </p:sp>
      <p:sp>
        <p:nvSpPr>
          <p:cNvPr id="7" name="Oval 6"/>
          <p:cNvSpPr/>
          <p:nvPr/>
        </p:nvSpPr>
        <p:spPr>
          <a:xfrm>
            <a:off x="6309360" y="1280160"/>
            <a:ext cx="822960" cy="822960"/>
          </a:xfrm>
          <a:prstGeom prst="ellipse">
            <a:avLst/>
          </a:prstGeom>
          <a:solidFill>
            <a:srgbClr val="F0F6FF"/>
          </a:solidFill>
          <a:ln w="19050"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0">
                <a:solidFill>
                  <a:srgbClr val="141414"/>
                </a:solidFill>
                <a:latin typeface="Calibri"/>
              </a:rPr>
              <a:t>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2801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3A5F"/>
                </a:solidFill>
                <a:latin typeface="Calibri"/>
              </a:rPr>
              <a:t>Dual AI provider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7373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  <a:latin typeface="Calibri"/>
              </a:rPr>
              <a:t>Google Gemini (free) or Anthropic Claude (paid)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560320"/>
            <a:ext cx="822960" cy="822960"/>
          </a:xfrm>
          <a:prstGeom prst="ellipse">
            <a:avLst/>
          </a:prstGeom>
          <a:solidFill>
            <a:srgbClr val="F0F6FF"/>
          </a:solidFill>
          <a:ln w="19050"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0">
                <a:solidFill>
                  <a:srgbClr val="141414"/>
                </a:solidFill>
                <a:latin typeface="Calibri"/>
              </a:rPr>
              <a:t>🛡️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560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3A5F"/>
                </a:solidFill>
                <a:latin typeface="Calibri"/>
              </a:rPr>
              <a:t>Keyword fallback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01752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  <a:latin typeface="Calibri"/>
              </a:rPr>
              <a:t>Fully usable when AI quota is exhausted</a:t>
            </a:r>
          </a:p>
        </p:txBody>
      </p:sp>
      <p:sp>
        <p:nvSpPr>
          <p:cNvPr id="13" name="Oval 12"/>
          <p:cNvSpPr/>
          <p:nvPr/>
        </p:nvSpPr>
        <p:spPr>
          <a:xfrm>
            <a:off x="6309360" y="2560320"/>
            <a:ext cx="822960" cy="822960"/>
          </a:xfrm>
          <a:prstGeom prst="ellipse">
            <a:avLst/>
          </a:prstGeom>
          <a:solidFill>
            <a:srgbClr val="F0F6FF"/>
          </a:solidFill>
          <a:ln w="19050"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0">
                <a:solidFill>
                  <a:srgbClr val="141414"/>
                </a:solidFill>
                <a:latin typeface="Calibri"/>
              </a:rPr>
              <a:t>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560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3A5F"/>
                </a:solidFill>
                <a:latin typeface="Calibri"/>
              </a:rPr>
              <a:t>Title + filter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01752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  <a:latin typeface="Calibri"/>
              </a:rPr>
              <a:t>Job title, location, days, min match %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3840479"/>
            <a:ext cx="822960" cy="822960"/>
          </a:xfrm>
          <a:prstGeom prst="ellipse">
            <a:avLst/>
          </a:prstGeom>
          <a:solidFill>
            <a:srgbClr val="F0F6FF"/>
          </a:solidFill>
          <a:ln w="19050"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0">
                <a:solidFill>
                  <a:srgbClr val="141414"/>
                </a:solidFill>
                <a:latin typeface="Calibri"/>
              </a:rP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84047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3A5F"/>
                </a:solidFill>
                <a:latin typeface="Calibri"/>
              </a:rPr>
              <a:t>ATS audit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297679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  <a:latin typeface="Calibri"/>
              </a:rPr>
              <a:t>7-rule keyword score + AI bullet rewrites</a:t>
            </a:r>
          </a:p>
        </p:txBody>
      </p:sp>
      <p:sp>
        <p:nvSpPr>
          <p:cNvPr id="19" name="Oval 18"/>
          <p:cNvSpPr/>
          <p:nvPr/>
        </p:nvSpPr>
        <p:spPr>
          <a:xfrm>
            <a:off x="6309360" y="3840479"/>
            <a:ext cx="822960" cy="822960"/>
          </a:xfrm>
          <a:prstGeom prst="ellipse">
            <a:avLst/>
          </a:prstGeom>
          <a:solidFill>
            <a:srgbClr val="F0F6FF"/>
          </a:solidFill>
          <a:ln w="19050"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0">
                <a:solidFill>
                  <a:srgbClr val="141414"/>
                </a:solidFill>
                <a:latin typeface="Calibri"/>
              </a:rPr>
              <a:t>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84047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3A5F"/>
                </a:solidFill>
                <a:latin typeface="Calibri"/>
              </a:rPr>
              <a:t>ATS-safe rewrites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297679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  <a:latin typeface="Calibri"/>
              </a:rPr>
              <a:t>Mirror exact JD keywords without fabrication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5120640"/>
            <a:ext cx="822960" cy="822960"/>
          </a:xfrm>
          <a:prstGeom prst="ellipse">
            <a:avLst/>
          </a:prstGeom>
          <a:solidFill>
            <a:srgbClr val="F0F6FF"/>
          </a:solidFill>
          <a:ln w="19050"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0">
                <a:solidFill>
                  <a:srgbClr val="141414"/>
                </a:solidFill>
                <a:latin typeface="Calibri"/>
              </a:rPr>
              <a:t>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120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3A5F"/>
                </a:solidFill>
                <a:latin typeface="Calibri"/>
              </a:rPr>
              <a:t>Before/after ATS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5778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  <a:latin typeface="Calibri"/>
              </a:rPr>
              <a:t>See exactly how much your score improved</a:t>
            </a:r>
          </a:p>
        </p:txBody>
      </p:sp>
      <p:sp>
        <p:nvSpPr>
          <p:cNvPr id="25" name="Oval 24"/>
          <p:cNvSpPr/>
          <p:nvPr/>
        </p:nvSpPr>
        <p:spPr>
          <a:xfrm>
            <a:off x="6309360" y="5120640"/>
            <a:ext cx="822960" cy="822960"/>
          </a:xfrm>
          <a:prstGeom prst="ellipse">
            <a:avLst/>
          </a:prstGeom>
          <a:solidFill>
            <a:srgbClr val="F0F6FF"/>
          </a:solidFill>
          <a:ln w="19050"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0">
                <a:solidFill>
                  <a:srgbClr val="141414"/>
                </a:solidFill>
                <a:latin typeface="Calibri"/>
              </a:rPr>
              <a:t>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5120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3A5F"/>
                </a:solidFill>
                <a:latin typeface="Calibri"/>
              </a:rPr>
              <a:t>Human-gate auto-apply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55778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  <a:latin typeface="Calibri"/>
              </a:rPr>
              <a:t>Bot fills, you approve, it submits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Tab 1: Upload Resume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6FF"/>
                </a:solidFill>
                <a:latin typeface="Calibri"/>
              </a:rPr>
              <a:t>Drag &amp; drop · Sidebar configures provider, search, auto-apply</a:t>
            </a:r>
          </a:p>
        </p:txBody>
      </p:sp>
      <p:pic>
        <p:nvPicPr>
          <p:cNvPr id="4" name="Picture 3" descr="01-upload-res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41832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Skills, experience, education extracted instantly. ATS audit shows 90/100 with 7-rule breakdown.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Tab 2: Job Matches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6FF"/>
                </a:solidFill>
                <a:latin typeface="Calibri"/>
              </a:rPr>
              <a:t>Ranked LinkedIn results with match score, expandable details, per-job actions</a:t>
            </a:r>
          </a:p>
        </p:txBody>
      </p:sp>
      <p:pic>
        <p:nvPicPr>
          <p:cNvPr id="4" name="Picture 3" descr="02-job-match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41832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Each job shows title, company, location, posting date · 'Upgrade CV' button per job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Tab 3: Optimised Resume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6FF"/>
                </a:solidFill>
                <a:latin typeface="Calibri"/>
              </a:rPr>
              <a:t>Full preview with before/after ATS score and downloadable PDF/Markdown</a:t>
            </a:r>
          </a:p>
        </p:txBody>
      </p:sp>
      <p:pic>
        <p:nvPicPr>
          <p:cNvPr id="4" name="Picture 3" descr="03-optimized-resu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41832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AI rewrites every bullet to mirror job keywords · downloads PDF + Markdown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Tab 4: Auto Apply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6FF"/>
                </a:solidFill>
                <a:latin typeface="Calibri"/>
              </a:rPr>
              <a:t>Selenium fills LinkedIn Easy Apply forms — pauses for your approval before submit</a:t>
            </a:r>
          </a:p>
        </p:txBody>
      </p:sp>
      <p:pic>
        <p:nvPicPr>
          <p:cNvPr id="4" name="Picture 3" descr="04-auto-app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41832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Human-in-the-loop gate · threading.Event blocks the bot until you click submit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Tab 5: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6FF"/>
                </a:solidFill>
                <a:latin typeface="Calibri"/>
              </a:rPr>
              <a:t>Ranked job table with match scores, distribution chart, CSV export</a:t>
            </a:r>
          </a:p>
        </p:txBody>
      </p:sp>
      <p:pic>
        <p:nvPicPr>
          <p:cNvPr id="4" name="Picture 3" descr="05-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41832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Full audit trail of every job seen, scored, queued, applied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AI Models &amp; Libraries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6FF"/>
                </a:solidFill>
                <a:latin typeface="Calibri"/>
              </a:rPr>
              <a:t>Production-grade open-source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3A5F"/>
                </a:solidFill>
                <a:latin typeface="Calibri"/>
              </a:rPr>
              <a:t>🤖 AI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486400" cy="685800"/>
          </a:xfrm>
          <a:prstGeom prst="roundRect">
            <a:avLst/>
          </a:prstGeom>
          <a:solidFill>
            <a:srgbClr val="F0F6FF"/>
          </a:solidFill>
          <a:ln w="19050">
            <a:solidFill>
              <a:srgbClr val="1557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55724"/>
                </a:solidFill>
                <a:latin typeface="Calibri"/>
              </a:rPr>
              <a:t>Google Gemini 2.5 Flash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Default · Free tier · 1500 req/day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06040"/>
            <a:ext cx="5486400" cy="685800"/>
          </a:xfrm>
          <a:prstGeom prst="roundRect">
            <a:avLst/>
          </a:prstGeom>
          <a:solidFill>
            <a:srgbClr val="F0F6FF"/>
          </a:solidFill>
          <a:ln w="19050"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6A9F"/>
                </a:solidFill>
                <a:latin typeface="Calibri"/>
              </a:rPr>
              <a:t>Gemini 2.0 Flash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Auto-fallback when 2.5 is rate-limited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83280"/>
            <a:ext cx="5486400" cy="685800"/>
          </a:xfrm>
          <a:prstGeom prst="roundRect">
            <a:avLst/>
          </a:prstGeom>
          <a:solidFill>
            <a:srgbClr val="F0F6FF"/>
          </a:solidFill>
          <a:ln w="19050"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429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6A9F"/>
                </a:solidFill>
                <a:latin typeface="Calibri"/>
              </a:rPr>
              <a:t>Gemini 2.0 Flash-Lite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490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Final fallback in the chain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20"/>
            <a:ext cx="5486400" cy="685800"/>
          </a:xfrm>
          <a:prstGeom prst="roundRect">
            <a:avLst/>
          </a:prstGeom>
          <a:solidFill>
            <a:srgbClr val="F0F6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2062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Anthropic Claude Sonnet 4.6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26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Optional · Paid · w/ prompt caching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3A5F"/>
                </a:solidFill>
                <a:latin typeface="Calibri"/>
              </a:rPr>
              <a:t>📚 Key Libraries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828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  <a:latin typeface="Consolas"/>
              </a:rPr>
              <a:t>streamlit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18288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  <a:latin typeface="Calibri"/>
              </a:rPr>
              <a:t>1.57   · 5-tab 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286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  <a:latin typeface="Consolas"/>
              </a:rPr>
              <a:t>google-genai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22860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  <a:latin typeface="Calibri"/>
              </a:rPr>
              <a:t>0.8    · Gemini SDK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743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  <a:latin typeface="Consolas"/>
              </a:rPr>
              <a:t>anthropic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27432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  <a:latin typeface="Calibri"/>
              </a:rPr>
              <a:t>0.97   · Claude SDK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200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  <a:latin typeface="Consolas"/>
              </a:rPr>
              <a:t>pdfplumber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32004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  <a:latin typeface="Calibri"/>
              </a:rPr>
              <a:t>0.11   · PDF text + tables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657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  <a:latin typeface="Consolas"/>
              </a:rPr>
              <a:t>pytesseract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36576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  <a:latin typeface="Calibri"/>
              </a:rPr>
              <a:t>0.3    · OCR for images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114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  <a:latin typeface="Consolas"/>
              </a:rPr>
              <a:t>cairosvg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41148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  <a:latin typeface="Calibri"/>
              </a:rPr>
              <a:t>2.9    · SVG → PNG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572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  <a:latin typeface="Consolas"/>
              </a:rPr>
              <a:t>beautifulsoup4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45720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  <a:latin typeface="Calibri"/>
              </a:rPr>
              <a:t>4.14   · LinkedIn HTML parse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5029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  <a:latin typeface="Consolas"/>
              </a:rPr>
              <a:t>selenium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50292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  <a:latin typeface="Calibri"/>
              </a:rPr>
              <a:t>4.43   · Easy Apply automation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5486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  <a:latin typeface="Consolas"/>
              </a:rPr>
              <a:t>reportlab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54864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  <a:latin typeface="Calibri"/>
              </a:rPr>
              <a:t>4.5    · ATS-safe PDF gen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ATS Scoring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6FF"/>
                </a:solidFill>
                <a:latin typeface="Calibri"/>
              </a:rPr>
              <a:t>Transparent, explainable 7-rule audit · 0-100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80160"/>
            <a:ext cx="8229600" cy="548640"/>
          </a:xfrm>
          <a:prstGeom prst="roundRect">
            <a:avLst/>
          </a:prstGeom>
          <a:solidFill>
            <a:srgbClr val="1E3A5F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Check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0" y="1280160"/>
            <a:ext cx="2103120" cy="548640"/>
          </a:xfrm>
          <a:prstGeom prst="roundRect">
            <a:avLst/>
          </a:prstGeom>
          <a:solidFill>
            <a:srgbClr val="1E3A5F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874519"/>
            <a:ext cx="8229600" cy="457200"/>
          </a:xfrm>
          <a:prstGeom prst="rect">
            <a:avLst/>
          </a:prstGeom>
          <a:solidFill>
            <a:srgbClr val="F0F6FF"/>
          </a:solidFill>
          <a:ln w="6350"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39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  <a:latin typeface="Calibri"/>
              </a:rPr>
              <a:t>Contact info present (name + email + phone)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0" y="1874519"/>
            <a:ext cx="2103120" cy="457200"/>
          </a:xfrm>
          <a:prstGeom prst="rect">
            <a:avLst/>
          </a:prstGeom>
          <a:solidFill>
            <a:srgbClr val="F0F6FF"/>
          </a:solidFill>
          <a:ln w="6350"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0" y="192023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B35"/>
                </a:solidFill>
                <a:latin typeface="Calibri"/>
              </a:rPr>
              <a:t>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377439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423159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  <a:latin typeface="Calibri"/>
              </a:rPr>
              <a:t>Professional summary (≥30 chars)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2377439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242315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B35"/>
                </a:solidFill>
                <a:latin typeface="Calibri"/>
              </a:rPr>
              <a:t>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880360"/>
            <a:ext cx="8229600" cy="457200"/>
          </a:xfrm>
          <a:prstGeom prst="rect">
            <a:avLst/>
          </a:prstGeom>
          <a:solidFill>
            <a:srgbClr val="F0F6FF"/>
          </a:solidFill>
          <a:ln w="6350"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926079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  <a:latin typeface="Calibri"/>
              </a:rPr>
              <a:t>Skills section present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2880360"/>
            <a:ext cx="2103120" cy="457200"/>
          </a:xfrm>
          <a:prstGeom prst="rect">
            <a:avLst/>
          </a:prstGeom>
          <a:solidFill>
            <a:srgbClr val="F0F6FF"/>
          </a:solidFill>
          <a:ln w="6350"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292607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B35"/>
                </a:solidFill>
                <a:latin typeface="Calibri"/>
              </a:rPr>
              <a:t>15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383280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42900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  <a:latin typeface="Calibri"/>
              </a:rPr>
              <a:t>Work experience with bullet points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3383280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34290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B35"/>
                </a:solidFill>
                <a:latin typeface="Calibri"/>
              </a:rPr>
              <a:t>20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3886200"/>
            <a:ext cx="8229600" cy="457200"/>
          </a:xfrm>
          <a:prstGeom prst="rect">
            <a:avLst/>
          </a:prstGeom>
          <a:solidFill>
            <a:srgbClr val="F0F6FF"/>
          </a:solidFill>
          <a:ln w="6350"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93192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  <a:latin typeface="Calibri"/>
              </a:rPr>
              <a:t>Education section present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3886200"/>
            <a:ext cx="2103120" cy="457200"/>
          </a:xfrm>
          <a:prstGeom prst="rect">
            <a:avLst/>
          </a:prstGeom>
          <a:solidFill>
            <a:srgbClr val="F0F6FF"/>
          </a:solidFill>
          <a:ln w="6350"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3931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B35"/>
                </a:solidFill>
                <a:latin typeface="Calibri"/>
              </a:rPr>
              <a:t>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4389120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4348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  <a:latin typeface="Calibri"/>
              </a:rPr>
              <a:t>≥10 technical keywords detected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4389120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44348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B35"/>
                </a:solidFill>
                <a:latin typeface="Calibri"/>
              </a:rPr>
              <a:t>10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4892040"/>
            <a:ext cx="8229600" cy="457200"/>
          </a:xfrm>
          <a:prstGeom prst="rect">
            <a:avLst/>
          </a:prstGeom>
          <a:solidFill>
            <a:srgbClr val="F0F6FF"/>
          </a:solidFill>
          <a:ln w="6350"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4937759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  <a:latin typeface="Calibri"/>
              </a:rPr>
              <a:t>Word count between 400-1200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0" y="4892040"/>
            <a:ext cx="2103120" cy="457200"/>
          </a:xfrm>
          <a:prstGeom prst="rect">
            <a:avLst/>
          </a:prstGeom>
          <a:solidFill>
            <a:srgbClr val="F0F6FF"/>
          </a:solidFill>
          <a:ln w="6350"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0" y="493775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B35"/>
                </a:solidFill>
                <a:latin typeface="Calibri"/>
              </a:rPr>
              <a:t>10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5486400"/>
            <a:ext cx="10332720" cy="822960"/>
          </a:xfrm>
          <a:prstGeom prst="roundRect">
            <a:avLst/>
          </a:prstGeom>
          <a:solidFill>
            <a:srgbClr val="155724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🤖 With AI:  bullet rewrites · keyword gap analysis · format issue detection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6FF"/>
                </a:solidFill>
                <a:latin typeface="Calibri"/>
              </a:rPr>
              <a:t>Hours saved · Higher response rate · Zero fabrication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749039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141414"/>
                </a:solidFill>
                <a:latin typeface="Calibri"/>
              </a:rPr>
              <a:t>⏱️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6B35"/>
                </a:solidFill>
                <a:latin typeface="Calibri"/>
              </a:rPr>
              <a:t>10× faster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39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41414"/>
                </a:solidFill>
                <a:latin typeface="Calibri"/>
              </a:rPr>
              <a:t>Customise 10 resumes in the time it takes to do 1 manually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80160"/>
            <a:ext cx="3749039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544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141414"/>
                </a:solidFill>
                <a:latin typeface="Calibri"/>
              </a:rP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860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6B35"/>
                </a:solidFill>
                <a:latin typeface="Calibri"/>
              </a:rPr>
              <a:t>ATS-optimised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834639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41414"/>
                </a:solidFill>
                <a:latin typeface="Calibri"/>
              </a:rPr>
              <a:t>Single-column PDFs with mirrored keywords pass automated filters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280160"/>
            <a:ext cx="3749039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19" y="15544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141414"/>
                </a:solidFill>
                <a:latin typeface="Calibri"/>
              </a:rPr>
              <a:t>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2860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6B35"/>
                </a:solidFill>
                <a:latin typeface="Calibri"/>
              </a:rPr>
              <a:t>Free forever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19" y="2834639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41414"/>
                </a:solidFill>
                <a:latin typeface="Calibri"/>
              </a:rPr>
              <a:t>Gemini's free tier handles 1500 req/day — no credit card needed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977639"/>
            <a:ext cx="3749039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251959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141414"/>
                </a:solidFill>
                <a:latin typeface="Calibri"/>
              </a:rPr>
              <a:t>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98347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6B35"/>
                </a:solidFill>
                <a:latin typeface="Calibri"/>
              </a:rPr>
              <a:t>Human-in-the-loop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53212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41414"/>
                </a:solidFill>
                <a:latin typeface="Calibri"/>
              </a:rPr>
              <a:t>Auto-Apply pauses for approval before every single submission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977639"/>
            <a:ext cx="3749039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251959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141414"/>
                </a:solidFill>
                <a:latin typeface="Calibri"/>
              </a:rPr>
              <a:t>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98347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6B35"/>
                </a:solidFill>
                <a:latin typeface="Calibri"/>
              </a:rPr>
              <a:t>Privacy-first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53212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41414"/>
                </a:solidFill>
                <a:latin typeface="Calibri"/>
              </a:rPr>
              <a:t>Resume processed locally · API keys stored in your .env only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3977639"/>
            <a:ext cx="3749039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19" y="4251959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141414"/>
                </a:solidFill>
                <a:latin typeface="Calibri"/>
              </a:rPr>
              <a:t>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98347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6B35"/>
                </a:solidFill>
                <a:latin typeface="Calibri"/>
              </a:rPr>
              <a:t>Measurable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19" y="553212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41414"/>
                </a:solidFill>
                <a:latin typeface="Calibri"/>
              </a:rPr>
              <a:t>Before/after ATS score + match analytics on every job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Tech Stack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6FF"/>
                </a:solidFill>
                <a:latin typeface="Calibri"/>
              </a:rPr>
              <a:t>Chosen for: free-tier-friendly, production-ready, easy to deploy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80160"/>
            <a:ext cx="2286000" cy="502920"/>
          </a:xfrm>
          <a:prstGeom prst="roundRect">
            <a:avLst/>
          </a:prstGeom>
          <a:solidFill>
            <a:srgbClr val="1E3A5F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280160"/>
            <a:ext cx="7772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0" y="1325880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  <a:latin typeface="Calibri"/>
              </a:rPr>
              <a:t>Streamlit (Python web UI)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74519"/>
            <a:ext cx="2286000" cy="502920"/>
          </a:xfrm>
          <a:prstGeom prst="roundRect">
            <a:avLst/>
          </a:prstGeom>
          <a:solidFill>
            <a:srgbClr val="2D6A9F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AI / LLM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874519"/>
            <a:ext cx="7772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920239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  <a:latin typeface="Calibri"/>
              </a:rPr>
              <a:t>google-genai · anthropic SDK · prompt caching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468880"/>
            <a:ext cx="2286000" cy="502920"/>
          </a:xfrm>
          <a:prstGeom prst="roundRect">
            <a:avLst/>
          </a:prstGeom>
          <a:solidFill>
            <a:srgbClr val="2D6A9F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Parsing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468880"/>
            <a:ext cx="7772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514600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  <a:latin typeface="Calibri"/>
              </a:rPr>
              <a:t>pdfplumber · pytesseract · cairosvg · Pillow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063240"/>
            <a:ext cx="2286000" cy="502920"/>
          </a:xfrm>
          <a:prstGeom prst="roundRect">
            <a:avLst/>
          </a:prstGeom>
          <a:solidFill>
            <a:srgbClr val="2D6A9F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Scraping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3063240"/>
            <a:ext cx="7772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3108960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  <a:latin typeface="Calibri"/>
              </a:rPr>
              <a:t>requests · beautifulsoup4 · lxml · python-dateutil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657600"/>
            <a:ext cx="2286000" cy="502920"/>
          </a:xfrm>
          <a:prstGeom prst="roundRect">
            <a:avLst/>
          </a:prstGeom>
          <a:solidFill>
            <a:srgbClr val="2D6A9F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Automation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3657600"/>
            <a:ext cx="7772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3703320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  <a:latin typeface="Calibri"/>
              </a:rPr>
              <a:t>selenium · webdriver-manager (Chrome)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251960"/>
            <a:ext cx="2286000" cy="502920"/>
          </a:xfrm>
          <a:prstGeom prst="roundRect">
            <a:avLst/>
          </a:prstGeom>
          <a:solidFill>
            <a:srgbClr val="2D6A9F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80" y="4251960"/>
            <a:ext cx="7772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4297680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  <a:latin typeface="Calibri"/>
              </a:rPr>
              <a:t>reportlab (PDF) · pandas (CSV)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846320"/>
            <a:ext cx="2286000" cy="502920"/>
          </a:xfrm>
          <a:prstGeom prst="roundRect">
            <a:avLst/>
          </a:prstGeom>
          <a:solidFill>
            <a:srgbClr val="155724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Testing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83280" y="4846320"/>
            <a:ext cx="7772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557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4892040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  <a:latin typeface="Calibri"/>
              </a:rPr>
              <a:t>pytest · 61 unit + integration tests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440679"/>
            <a:ext cx="2286000" cy="502920"/>
          </a:xfrm>
          <a:prstGeom prst="roundRect">
            <a:avLst/>
          </a:prstGeom>
          <a:solidFill>
            <a:srgbClr val="856404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Setup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5440679"/>
            <a:ext cx="7772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564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5486399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  <a:latin typeface="Calibri"/>
              </a:rPr>
              <a:t>setup.sh · 3-command install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Quality &amp;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6FF"/>
                </a:solidFill>
                <a:latin typeface="Calibri"/>
              </a:rPr>
              <a:t>61 tests · zero-network mocked unit tests · live integration tests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74320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557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155724"/>
                </a:solidFill>
                <a:latin typeface="Calibri"/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1414"/>
                </a:solidFill>
                <a:latin typeface="Calibri"/>
              </a:rPr>
              <a:t>Tests passing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280160"/>
            <a:ext cx="274320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4173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2D6A9F"/>
                </a:solidFill>
                <a:latin typeface="Calibr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1414"/>
                </a:solidFill>
                <a:latin typeface="Calibri"/>
              </a:rPr>
              <a:t>Test categories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80160"/>
            <a:ext cx="274320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557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173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155724"/>
                </a:solidFill>
                <a:latin typeface="Calibri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1414"/>
                </a:solidFill>
                <a:latin typeface="Calibri"/>
              </a:rPr>
              <a:t>Failures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280160"/>
            <a:ext cx="274320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14173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2D6A9F"/>
                </a:solidFill>
                <a:latin typeface="Calibri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1414"/>
                </a:solidFill>
                <a:latin typeface="Calibri"/>
              </a:rPr>
              <a:t>Pipeline coverage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747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3A5F"/>
                </a:solidFill>
                <a:latin typeface="Calibri"/>
              </a:rPr>
              <a:t>Test categories: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  <a:latin typeface="Calibri"/>
              </a:rPr>
              <a:t>✓ Fallback resume parser — positive cases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931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  <a:latin typeface="Calibri"/>
              </a:rPr>
              <a:t>✓ Edge cases — empty, no dates, single role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297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  <a:latin typeface="Calibri"/>
              </a:rPr>
              <a:t>✓ Overlapping date-range merging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297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  <a:latin typeface="Calibri"/>
              </a:rPr>
              <a:t>✓ Normalizer type coercion ("5+" → 5, "5 yrs" → 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663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  <a:latin typeface="Calibri"/>
              </a:rPr>
              <a:t>✓ LinkedIn query construction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663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  <a:latin typeface="Calibri"/>
              </a:rPr>
              <a:t>✓ Score match — perfect, zero, partial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029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  <a:latin typeface="Calibri"/>
              </a:rPr>
              <a:t>✓ Job description extraction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5029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  <a:latin typeface="Calibri"/>
              </a:rPr>
              <a:t>✓ PDF + Markdown generation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394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  <a:latin typeface="Calibri"/>
              </a:rPr>
              <a:t>✓ Live LinkedIn search — title vs skills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5394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  <a:latin typeface="Calibri"/>
              </a:rPr>
              <a:t>✓ Pipeline orchestration — 8 tests for src/pipeline.py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Quick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6FF"/>
                </a:solidFill>
                <a:latin typeface="Calibri"/>
              </a:rPr>
              <a:t>From clone to running app in under 2 minutes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10881360" cy="25603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 wrap="square"/>
          <a:lstStyle/>
          <a:p>
            <a:pPr algn="l"/>
            <a:r>
              <a:rPr sz="1500">
                <a:solidFill>
                  <a:srgbClr val="C8E6C9"/>
                </a:solidFill>
                <a:latin typeface="Consolas"/>
              </a:rPr>
              <a:t>$ git clone https://github.com/Singhniku/scholar-bot.git
$ cd scholar-bot
$ ./setup.sh                              ← creates venv, installs deps,
                                            tesseract, .env, folders
$ source .venv/bin/activate
$ streamlit run app.py                    ← open localhost:8501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114800"/>
            <a:ext cx="3520440" cy="2194560"/>
          </a:xfrm>
          <a:prstGeom prst="roundRect">
            <a:avLst/>
          </a:prstGeom>
          <a:solidFill>
            <a:srgbClr val="F0F6FF"/>
          </a:solidFill>
          <a:ln w="25400"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4206240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6B35"/>
                </a:solidFill>
                <a:latin typeface="Calibri"/>
              </a:rP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507492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E3A5F"/>
                </a:solidFill>
                <a:latin typeface="Calibri"/>
              </a:rPr>
              <a:t>Clone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5623560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41414"/>
                </a:solidFill>
                <a:latin typeface="Calibri"/>
              </a:rPr>
              <a:t>git clone the repo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4114800"/>
            <a:ext cx="3520440" cy="2194560"/>
          </a:xfrm>
          <a:prstGeom prst="roundRect">
            <a:avLst/>
          </a:prstGeom>
          <a:solidFill>
            <a:srgbClr val="F0F6FF"/>
          </a:solidFill>
          <a:ln w="25400"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4206240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6B35"/>
                </a:solidFill>
                <a:latin typeface="Calibri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507492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E3A5F"/>
                </a:solidFill>
                <a:latin typeface="Calibri"/>
              </a:rPr>
              <a:t>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5623560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41414"/>
                </a:solidFill>
                <a:latin typeface="Calibri"/>
              </a:rPr>
              <a:t>./setup.sh — one command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4114800"/>
            <a:ext cx="3520440" cy="2194560"/>
          </a:xfrm>
          <a:prstGeom prst="roundRect">
            <a:avLst/>
          </a:prstGeom>
          <a:solidFill>
            <a:srgbClr val="F0F6FF"/>
          </a:solidFill>
          <a:ln w="25400"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9" y="4206240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6B35"/>
                </a:solidFill>
                <a:latin typeface="Calibri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9" y="507492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E3A5F"/>
                </a:solidFill>
                <a:latin typeface="Calibri"/>
              </a:rPr>
              <a:t>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5623560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41414"/>
                </a:solidFill>
                <a:latin typeface="Calibri"/>
              </a:rPr>
              <a:t>streamlit run app.py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Roadmap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6FF"/>
                </a:solidFill>
                <a:latin typeface="Calibri"/>
              </a:rPr>
              <a:t>Where Scholar-Bot is heading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41414"/>
                </a:solidFill>
                <a:latin typeface="Calibri"/>
              </a:rPr>
              <a:t>🌐  Indeed · Glassdoor · Naukri scrapers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3716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41414"/>
                </a:solidFill>
                <a:latin typeface="Calibri"/>
              </a:rPr>
              <a:t>✉️   AI-generated cover letter per job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41414"/>
                </a:solidFill>
                <a:latin typeface="Calibri"/>
              </a:rPr>
              <a:t>📊  Application tracking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1945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41414"/>
                </a:solidFill>
                <a:latin typeface="Calibri"/>
              </a:rPr>
              <a:t>📝  .docx resume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41414"/>
                </a:solidFill>
                <a:latin typeface="Calibri"/>
              </a:rPr>
              <a:t>🐳  Docker image for one-command deploy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30175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41414"/>
                </a:solidFill>
                <a:latin typeface="Calibri"/>
              </a:rPr>
              <a:t>🌍  Multi-language resume support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937760"/>
            <a:ext cx="10881360" cy="1463040"/>
          </a:xfrm>
          <a:prstGeom prst="roundRect">
            <a:avLst/>
          </a:prstGeom>
          <a:solidFill>
            <a:srgbClr val="1E3A5F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🎓  github.com/Singhniku/scholar-bot   ·   Try it · Fork it · Star 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